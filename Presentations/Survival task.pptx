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60" r:id="rId2"/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71156"/>
  </p:normalViewPr>
  <p:slideViewPr>
    <p:cSldViewPr snapToGrid="0">
      <p:cViewPr varScale="1">
        <p:scale>
          <a:sx n="89" d="100"/>
          <a:sy n="89" d="100"/>
        </p:scale>
        <p:origin x="7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D4722-2590-3B46-B5A4-BC75C1AFA143}" type="datetimeFigureOut">
              <a:rPr lang="en-GB" smtClean="0"/>
              <a:t>26/06/2025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A455B-72BA-0A4B-995D-291669088D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9452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 adapted multiple linear </a:t>
            </a:r>
            <a:r>
              <a:rPr lang="en-GB" dirty="0" err="1"/>
              <a:t>regresssion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A455B-72BA-0A4B-995D-291669088D74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143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HR is the effect size.</a:t>
            </a:r>
          </a:p>
          <a:p>
            <a:r>
              <a:rPr lang="en-GB" dirty="0"/>
              <a:t>A statistical test is performed to see if this is different from zero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A455B-72BA-0A4B-995D-291669088D74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478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5F01A-4782-86CE-09C1-AEBB034DB6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34A6E5-2D11-23FC-4671-DB7869671C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5F5DB-68B0-CBC2-D18A-086A3D472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F568A-094F-3B49-8C1C-57CE1E225C7B}" type="datetimeFigureOut">
              <a:rPr lang="en-GB" smtClean="0"/>
              <a:t>26/06/2025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F7C57-1351-2DCD-ECD9-1CCB78480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45FBF-D2A7-1A37-0200-D18611A37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9DD01-CDF7-B940-9D81-AB0E9BE7E7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3793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9D752-6A61-7C07-3C6E-1F6ECBDE8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751AF-0C0D-029B-E234-ABA7D647E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893C9-E0FB-8A51-2786-581D2AD56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F568A-094F-3B49-8C1C-57CE1E225C7B}" type="datetimeFigureOut">
              <a:rPr lang="en-GB" smtClean="0"/>
              <a:t>26/06/2025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FF20F-1E48-FC0C-4A2E-CB28D24A0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32919-30BA-CE24-FEC7-A39B2ACF3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9DD01-CDF7-B940-9D81-AB0E9BE7E7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9821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A03B1-E7B8-F855-B0D5-4AB05AB6B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42B70F-DD4A-87D6-47ED-AE1652EFA3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831DE-2ADA-3E1D-CAA5-B20DBB0A7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F568A-094F-3B49-8C1C-57CE1E225C7B}" type="datetimeFigureOut">
              <a:rPr lang="en-GB" smtClean="0"/>
              <a:t>26/06/2025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8EF6E-D0D6-0B2A-EF19-E183928D0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96148-6344-3DDB-9F43-CCD4E62B7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9DD01-CDF7-B940-9D81-AB0E9BE7E7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4871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143C4-EB22-E4BA-276B-17B9394B4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B0BD7-3B07-60CC-5AA1-88EC81A6CC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D40238-67C3-0430-A66E-63A6940498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CEC6E9-2B59-66CD-425F-2B1431DD2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F568A-094F-3B49-8C1C-57CE1E225C7B}" type="datetimeFigureOut">
              <a:rPr lang="en-GB" smtClean="0"/>
              <a:t>26/06/2025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D04370-2EA2-926C-3593-54F6D8039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711CA4-8F72-5A5B-C147-3BC03BE2C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9DD01-CDF7-B940-9D81-AB0E9BE7E7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343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BCAA6-4831-379D-4656-ECB91613B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7A2982-7083-DE43-E176-075964725F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8658E1-ABE8-2111-C3EA-1224637CE7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56C03E-D1BB-1B42-3A9B-7330F5D29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5604F8-7ACF-1A9A-7B52-FD849644EB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21A4F2-D933-5855-7CB0-AD3C38F6A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F568A-094F-3B49-8C1C-57CE1E225C7B}" type="datetimeFigureOut">
              <a:rPr lang="en-GB" smtClean="0"/>
              <a:t>26/06/2025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A8CB9E-6A52-1DC0-167A-00CEE20BB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18B8A9-4170-103B-ED9D-36E90C1EA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9DD01-CDF7-B940-9D81-AB0E9BE7E7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2904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30A55-831B-A913-BE3B-F2F3F76E4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E886F6-B15D-949B-2868-B27F54644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F568A-094F-3B49-8C1C-57CE1E225C7B}" type="datetimeFigureOut">
              <a:rPr lang="en-GB" smtClean="0"/>
              <a:t>26/06/2025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EB92D2-4F58-116C-FB81-B98D93034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040F0B-7CD8-7FC7-5C78-BF8EA9695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9DD01-CDF7-B940-9D81-AB0E9BE7E7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6497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1D4D22-3386-2069-2F97-1A5FBFE8D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F568A-094F-3B49-8C1C-57CE1E225C7B}" type="datetimeFigureOut">
              <a:rPr lang="en-GB" smtClean="0"/>
              <a:t>26/06/2025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4630F7-A21A-1FD4-43C5-451D07E5A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1E4612-DD38-0BDC-B5D1-8A6DF7CF2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9DD01-CDF7-B940-9D81-AB0E9BE7E7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587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B86E7-7BE8-98F3-8F6E-410BD47E3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40385-9BC1-3868-C8DD-B3C427731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241651-DDF2-6A45-ED33-3DA366793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228EF3-FE1B-F07E-934B-541E003DD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F568A-094F-3B49-8C1C-57CE1E225C7B}" type="datetimeFigureOut">
              <a:rPr lang="en-GB" smtClean="0"/>
              <a:t>26/06/2025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221D29-EE6B-4F94-E7B0-E2EF09B87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455124-CA9C-488F-81A4-983E73860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9DD01-CDF7-B940-9D81-AB0E9BE7E7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2331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27606-025C-306B-27BE-CEE7A9453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B5D34B-6D4E-D22A-2265-ADFC8697B9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70F02B-4FDB-140A-D70B-ECEC6612A8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C00F0E-8412-B0F7-4FD1-6A84900B0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F568A-094F-3B49-8C1C-57CE1E225C7B}" type="datetimeFigureOut">
              <a:rPr lang="en-GB" smtClean="0"/>
              <a:t>26/06/2025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4CF3D1-7375-5ECA-D650-1DDDA457F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DECBDC-A85B-254D-E490-6E804AD4A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9DD01-CDF7-B940-9D81-AB0E9BE7E7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3961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EE12B-D177-A24B-0B09-94B914A91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F2B057-F396-D4BB-713E-E902E0D2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727AD-1900-236A-6682-EFCB0EEA7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F568A-094F-3B49-8C1C-57CE1E225C7B}" type="datetimeFigureOut">
              <a:rPr lang="en-GB" smtClean="0"/>
              <a:t>26/06/2025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EC37F-6AD7-09E1-3981-14EF1AF9D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1C564-013E-00A4-DFB7-CA74736B9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9DD01-CDF7-B940-9D81-AB0E9BE7E7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5452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156E05-432C-A63B-DA74-C22E41D15C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7BD099-3381-C0EA-E6B5-58DB364E3F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1826B-15C2-8EDB-664D-49EE1556D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F568A-094F-3B49-8C1C-57CE1E225C7B}" type="datetimeFigureOut">
              <a:rPr lang="en-GB" smtClean="0"/>
              <a:t>26/06/2025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1A79E-9597-0920-3939-388FDD87B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5CB35-E888-1FAE-88A7-258CAFA2B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9DD01-CDF7-B940-9D81-AB0E9BE7E7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6930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EE970E-B669-899D-C323-78E93681E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684134-6C86-4799-A67C-43316E6EEF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5AC71-CD19-55E4-3430-BA9761419F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1F568A-094F-3B49-8C1C-57CE1E225C7B}" type="datetimeFigureOut">
              <a:rPr lang="en-GB" smtClean="0"/>
              <a:t>26/06/2025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40C30-F7AB-F7C0-6E51-F8EF328BE1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2DFB42-2191-3355-53EE-CA814D969C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9DD01-CDF7-B940-9D81-AB0E9BE7E7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841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t6vdjwhauF8&amp;t=201s" TargetMode="External"/><Relationship Id="rId2" Type="http://schemas.openxmlformats.org/officeDocument/2006/relationships/hyperlink" Target="https://www.youtube.com/watch?v=q0rzMgpYpbQ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34482-B9C1-C940-300E-DFC70A774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to survival analyses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2C4A7-03A6-8C1A-0AA2-926344E3D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Survival analyses </a:t>
            </a:r>
            <a:r>
              <a:rPr lang="en-GB" dirty="0">
                <a:hlinkClick r:id="rId2"/>
              </a:rPr>
              <a:t>https://www.youtube.com/watch?v=q0rzMgpYpbQ</a:t>
            </a:r>
            <a:r>
              <a:rPr lang="en-GB" dirty="0"/>
              <a:t> </a:t>
            </a:r>
          </a:p>
          <a:p>
            <a:r>
              <a:rPr lang="en-GB" dirty="0"/>
              <a:t>KM Plot and log-rank test </a:t>
            </a:r>
            <a:r>
              <a:rPr lang="en-GB" dirty="0">
                <a:hlinkClick r:id="rId3"/>
              </a:rPr>
              <a:t>https://www.youtube.com/watch?v=t6vdjwhauF8&amp;t=201s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12800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8C498-898B-90A6-4026-272E005373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Cox Proportional Hazards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052FE0-F3A0-DB64-46C1-EF13FC8CB4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MMB masterclass 2025</a:t>
            </a:r>
          </a:p>
        </p:txBody>
      </p:sp>
    </p:spTree>
    <p:extLst>
      <p:ext uri="{BB962C8B-B14F-4D97-AF65-F5344CB8AC3E}">
        <p14:creationId xmlns:p14="http://schemas.microsoft.com/office/powerpoint/2010/main" val="2023106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043EA-EB47-6A72-D62C-7CE95589D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need for the Cox Proportional Hazards Model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D25AB-F431-2085-69CC-187AEB776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021B34"/>
                </a:solidFill>
                <a:effectLst/>
                <a:latin typeface="Open Sans" panose="020B0606030504020204" pitchFamily="34" charset="0"/>
              </a:rPr>
              <a:t>Kaplan-Meier curves and log-rank tests are limited:</a:t>
            </a:r>
          </a:p>
          <a:p>
            <a:pPr lvl="1"/>
            <a:r>
              <a:rPr lang="en-GB" dirty="0"/>
              <a:t>Univariate only</a:t>
            </a:r>
          </a:p>
          <a:p>
            <a:pPr lvl="1"/>
            <a:r>
              <a:rPr lang="en-GB" dirty="0"/>
              <a:t>Categorical only</a:t>
            </a:r>
          </a:p>
          <a:p>
            <a:pPr lvl="1"/>
            <a:endParaRPr lang="en-GB" dirty="0"/>
          </a:p>
          <a:p>
            <a:r>
              <a:rPr lang="en-GB" dirty="0"/>
              <a:t>In most clinical situations these limitations are not met</a:t>
            </a:r>
          </a:p>
        </p:txBody>
      </p:sp>
    </p:spTree>
    <p:extLst>
      <p:ext uri="{BB962C8B-B14F-4D97-AF65-F5344CB8AC3E}">
        <p14:creationId xmlns:p14="http://schemas.microsoft.com/office/powerpoint/2010/main" val="1600575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11C7F-E050-A871-5C29-3A2BC532E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Cox proportional hazards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626D2-0F31-0DCE-8202-E798D58E4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log(h(t))=log(h</a:t>
            </a:r>
            <a:r>
              <a:rPr lang="en-GB" b="0" i="0" u="none" strike="noStrike" baseline="-2500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(t))+</a:t>
            </a:r>
            <a:r>
              <a:rPr lang="el-GR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l-GR" b="0" i="0" u="none" strike="noStrike" baseline="-2500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GB" b="0" i="0" u="none" strike="noStrike" baseline="-2500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l-GR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l-GR" b="0" i="0" u="none" strike="noStrike" baseline="-2500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GB" b="0" i="0" u="none" strike="noStrike" baseline="-2500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+...+</a:t>
            </a:r>
            <a:r>
              <a:rPr lang="el-GR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GB" b="0" i="0" u="none" strike="noStrike" baseline="-25000" dirty="0" err="1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GB" b="0" i="0" u="none" strike="noStrike" dirty="0" err="1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GB" b="0" i="0" u="none" strike="noStrike" baseline="-25000" dirty="0" err="1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GB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ultiple exposure variables 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GB" b="0" i="0" u="none" strike="noStrike" baseline="-2500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x</a:t>
            </a:r>
            <a:r>
              <a:rPr lang="en-GB" b="0" i="0" u="none" strike="noStrike" baseline="-2500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…, </a:t>
            </a:r>
            <a:r>
              <a:rPr lang="en-GB" b="0" i="0" u="none" strike="noStrike" dirty="0" err="1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GB" b="0" i="0" u="none" strike="noStrike" baseline="-25000" dirty="0" err="1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endParaRPr lang="en-GB" b="0" i="0" u="none" strike="noStrike" baseline="-25000" dirty="0"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h(t) = hazard at time </a:t>
            </a:r>
            <a:r>
              <a:rPr lang="en-GB" b="0" i="1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GB" b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i.e. the likelihood an event will occur at time </a:t>
            </a:r>
            <a:r>
              <a:rPr lang="en-GB" b="0" i="1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</a:p>
          <a:p>
            <a:r>
              <a:rPr lang="en-GB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GB" b="0" i="0" u="none" strike="noStrike" baseline="-2500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(t) = baseline hazard (hazard for an individual when all exposure variables are 0)</a:t>
            </a:r>
            <a:endParaRPr lang="en-GB" b="0" i="1" u="none" strike="noStrike" dirty="0"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53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1F8D6-DB41-DAEA-EFA1-EEA4042D3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Hazards Ratio (HR)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767A2-42E0-D10A-7997-6D9BEB8A2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br>
              <a:rPr lang="el-GR" dirty="0"/>
            </a:br>
            <a:endParaRPr lang="en-GB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21B34"/>
                </a:solidFill>
                <a:effectLst/>
                <a:latin typeface="Open Sans" panose="020B0606030504020204" pitchFamily="34" charset="0"/>
              </a:rPr>
              <a:t>HR is constant over time</a:t>
            </a:r>
          </a:p>
          <a:p>
            <a:pPr marL="0" indent="0" algn="just">
              <a:buNone/>
            </a:pPr>
            <a:endParaRPr lang="en-GB" b="0" i="0" dirty="0">
              <a:solidFill>
                <a:srgbClr val="021B34"/>
              </a:solidFill>
              <a:effectLst/>
              <a:latin typeface="Open Sans" panose="020B0606030504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21B34"/>
                </a:solidFill>
                <a:effectLst/>
                <a:latin typeface="Open Sans" panose="020B0606030504020204" pitchFamily="34" charset="0"/>
              </a:rPr>
              <a:t>HR = 1: No effect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21B34"/>
                </a:solidFill>
                <a:effectLst/>
                <a:latin typeface="Open Sans" panose="020B0606030504020204" pitchFamily="34" charset="0"/>
              </a:rPr>
              <a:t>HR &lt; 1: Reduction in the hazard (a prognostic factor for a good outcome)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21B34"/>
                </a:solidFill>
                <a:effectLst/>
                <a:latin typeface="Open Sans" panose="020B0606030504020204" pitchFamily="34" charset="0"/>
              </a:rPr>
              <a:t>HR &gt; 1: Increase in hazard (a prognostic factor for a bad outcome)</a:t>
            </a:r>
          </a:p>
          <a:p>
            <a:endParaRPr lang="en-GB" dirty="0"/>
          </a:p>
        </p:txBody>
      </p:sp>
      <p:pic>
        <p:nvPicPr>
          <p:cNvPr id="5" name="Picture 4" descr="A mathematical equation with black letters&#10;&#10;Description automatically generated with medium confidence">
            <a:extLst>
              <a:ext uri="{FF2B5EF4-FFF2-40B4-BE49-F238E27FC236}">
                <a16:creationId xmlns:a16="http://schemas.microsoft.com/office/drawing/2014/main" id="{4D28FDD1-4E92-390A-D099-D50E90ACC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2464" y="1525588"/>
            <a:ext cx="3647072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286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1476</TotalTime>
  <Words>230</Words>
  <Application>Microsoft Macintosh PowerPoint</Application>
  <PresentationFormat>Widescreen</PresentationFormat>
  <Paragraphs>29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Open Sans</vt:lpstr>
      <vt:lpstr>Office Theme</vt:lpstr>
      <vt:lpstr>Introduction to survival analyses</vt:lpstr>
      <vt:lpstr>Cox Proportional Hazards Model</vt:lpstr>
      <vt:lpstr>The need for the Cox Proportional Hazards Model </vt:lpstr>
      <vt:lpstr>The Cox proportional hazards model</vt:lpstr>
      <vt:lpstr>Hazards Ratio (HR)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survival analyses</dc:title>
  <dc:creator>Daniel Brewer (MED - Staff)</dc:creator>
  <cp:lastModifiedBy>Daniel Brewer (MED - Staff)</cp:lastModifiedBy>
  <cp:revision>2</cp:revision>
  <dcterms:created xsi:type="dcterms:W3CDTF">2023-09-25T12:55:59Z</dcterms:created>
  <dcterms:modified xsi:type="dcterms:W3CDTF">2025-06-26T15:04:13Z</dcterms:modified>
</cp:coreProperties>
</file>